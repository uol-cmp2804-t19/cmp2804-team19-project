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51" r:id="rId1"/>
  </p:sldMasterIdLst>
  <p:notesMasterIdLst>
    <p:notesMasterId r:id="rId21"/>
  </p:notesMasterIdLst>
  <p:sldIdLst>
    <p:sldId id="272" r:id="rId2"/>
    <p:sldId id="256" r:id="rId3"/>
    <p:sldId id="316" r:id="rId4"/>
    <p:sldId id="317" r:id="rId5"/>
    <p:sldId id="318" r:id="rId6"/>
    <p:sldId id="319" r:id="rId7"/>
    <p:sldId id="322" r:id="rId8"/>
    <p:sldId id="324" r:id="rId9"/>
    <p:sldId id="323" r:id="rId10"/>
    <p:sldId id="320" r:id="rId11"/>
    <p:sldId id="321" r:id="rId12"/>
    <p:sldId id="325" r:id="rId13"/>
    <p:sldId id="327" r:id="rId14"/>
    <p:sldId id="328" r:id="rId15"/>
    <p:sldId id="329" r:id="rId16"/>
    <p:sldId id="313" r:id="rId17"/>
    <p:sldId id="333" r:id="rId18"/>
    <p:sldId id="332" r:id="rId19"/>
    <p:sldId id="315" r:id="rId20"/>
  </p:sldIdLst>
  <p:sldSz cx="12192000" cy="6858000"/>
  <p:notesSz cx="6858000" cy="9144000"/>
  <p:embeddedFontLst>
    <p:embeddedFont>
      <p:font typeface="Calisto MT" panose="02040603050505030304" pitchFamily="18" charset="0"/>
      <p:regular r:id="rId22"/>
      <p:bold r:id="rId23"/>
      <p:italic r:id="rId24"/>
      <p:boldItalic r:id="rId25"/>
    </p:embeddedFont>
    <p:embeddedFont>
      <p:font typeface="Univers Condensed" panose="020B0506020202050204" pitchFamily="34" charset="0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1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046880-9AB6-4477-8CD2-B409FF2534A5}" v="2" dt="2025-11-19T10:56:21.7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1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 Doughty" userId="dd11778a-efac-49e8-8837-f18df6981ad8" providerId="ADAL" clId="{97281B58-FD2C-4EAD-925B-33430D676DA4}"/>
    <pc:docChg chg="addSld delSld modSld">
      <pc:chgData name="Mark Doughty" userId="dd11778a-efac-49e8-8837-f18df6981ad8" providerId="ADAL" clId="{97281B58-FD2C-4EAD-925B-33430D676DA4}" dt="2025-11-19T10:56:21.762" v="4"/>
      <pc:docMkLst>
        <pc:docMk/>
      </pc:docMkLst>
      <pc:sldChg chg="add">
        <pc:chgData name="Mark Doughty" userId="dd11778a-efac-49e8-8837-f18df6981ad8" providerId="ADAL" clId="{97281B58-FD2C-4EAD-925B-33430D676DA4}" dt="2025-11-19T10:16:02.932" v="3"/>
        <pc:sldMkLst>
          <pc:docMk/>
          <pc:sldMk cId="1634829821" sldId="332"/>
        </pc:sldMkLst>
      </pc:sldChg>
      <pc:sldChg chg="add">
        <pc:chgData name="Mark Doughty" userId="dd11778a-efac-49e8-8837-f18df6981ad8" providerId="ADAL" clId="{97281B58-FD2C-4EAD-925B-33430D676DA4}" dt="2025-11-19T10:56:21.762" v="4"/>
        <pc:sldMkLst>
          <pc:docMk/>
          <pc:sldMk cId="3570928571" sldId="33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941283-27DB-4E43-8502-6DA3B0D6A572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E0145B-F3B1-4A80-AF7E-A851CBC807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1612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B4885-499A-47A6-9AB1-4E44A48F15BA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995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996F6-2C5A-414F-9AF2-2B720AD62E93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E8FD5-1844-4EAA-BBDE-E8014CE9DDFD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522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F20F6-F0D7-4A96-85FD-A51C74E5F00F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713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478C-1440-46E9-803C-9421EE0CAF8B}" type="datetime1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272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3512D-1149-41E7-8331-D583849B3DD3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57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51ABD-9F59-4233-9648-F0B5A4484A60}" type="datetime1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485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61E2E-8DAB-49BE-881F-ABBF7889F8D1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673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66F1-02AF-438F-8A7A-5E25369FBACF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26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626E-C22E-45F6-B286-93321E839A2B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291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E85E8-F982-4A72-B529-1F656F6D8F9A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738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B652A389-18B8-4DF9-AD48-94FDC08490AE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Attendance Code: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132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40" r:id="rId4"/>
    <p:sldLayoutId id="2147483741" r:id="rId5"/>
    <p:sldLayoutId id="2147483746" r:id="rId6"/>
    <p:sldLayoutId id="2147483742" r:id="rId7"/>
    <p:sldLayoutId id="2147483743" r:id="rId8"/>
    <p:sldLayoutId id="2147483744" r:id="rId9"/>
    <p:sldLayoutId id="2147483745" r:id="rId10"/>
    <p:sldLayoutId id="2147483747" r:id="rId11"/>
  </p:sldLayoutIdLs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lassian.com/agile/project-management/gantt-chart" TargetMode="External"/><Relationship Id="rId2" Type="http://schemas.openxmlformats.org/officeDocument/2006/relationships/hyperlink" Target="https://www.apm.org.uk/resources/find-a-resource/gantt-chart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atlassian.com/work-management/project-management/critical-path-method" TargetMode="External"/><Relationship Id="rId5" Type="http://schemas.openxmlformats.org/officeDocument/2006/relationships/hyperlink" Target="https://www.atlassian.com/work-management/project-management/pert-chart" TargetMode="External"/><Relationship Id="rId4" Type="http://schemas.openxmlformats.org/officeDocument/2006/relationships/hyperlink" Target="https://projectmanagementacademy.net/resources/blog/a-three-point-estimating-technique-pert/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On Air Stock Photo - Download Image Now - Radio, Mid-Air, Podcasting -  iStock">
            <a:extLst>
              <a:ext uri="{FF2B5EF4-FFF2-40B4-BE49-F238E27FC236}">
                <a16:creationId xmlns:a16="http://schemas.microsoft.com/office/drawing/2014/main" id="{0D7C8B93-CFFA-B555-0C36-4C06AA0FAE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/>
        </p:blipFill>
        <p:spPr bwMode="auto">
          <a:xfrm>
            <a:off x="20" y="10"/>
            <a:ext cx="12191979" cy="685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A6FEA0-619D-0D02-A2DF-EE85E83B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</p:spTree>
    <p:extLst>
      <p:ext uri="{BB962C8B-B14F-4D97-AF65-F5344CB8AC3E}">
        <p14:creationId xmlns:p14="http://schemas.microsoft.com/office/powerpoint/2010/main" val="3599080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D6BB92-933F-43EF-1772-D9C4EBC72C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699" y="871758"/>
            <a:ext cx="5227171" cy="3871143"/>
          </a:xfrm>
        </p:spPr>
        <p:txBody>
          <a:bodyPr>
            <a:normAutofit/>
          </a:bodyPr>
          <a:lstStyle/>
          <a:p>
            <a:r>
              <a:rPr lang="en-GB" dirty="0"/>
              <a:t>CMP2804 </a:t>
            </a:r>
            <a:br>
              <a:rPr lang="en-GB" dirty="0"/>
            </a:br>
            <a:r>
              <a:rPr lang="en-GB" dirty="0"/>
              <a:t>Team Software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B15FD7-88A5-C1EC-953E-B7E4B8E6A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0100" y="4453130"/>
            <a:ext cx="4857857" cy="437628"/>
          </a:xfrm>
        </p:spPr>
        <p:txBody>
          <a:bodyPr anchor="t">
            <a:normAutofit lnSpcReduction="10000"/>
          </a:bodyPr>
          <a:lstStyle/>
          <a:p>
            <a:r>
              <a:rPr lang="en-GB" dirty="0"/>
              <a:t>Week 8</a:t>
            </a:r>
          </a:p>
          <a:p>
            <a:endParaRPr lang="en-GB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Topview of mint green workspace with laptop, coffee, notebook, pen, glasses, and mouse">
            <a:extLst>
              <a:ext uri="{FF2B5EF4-FFF2-40B4-BE49-F238E27FC236}">
                <a16:creationId xmlns:a16="http://schemas.microsoft.com/office/drawing/2014/main" id="{62E9864C-B6D4-4387-11B4-D6961963FF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4745" b="-1"/>
          <a:stretch/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E27EB-33F4-CD41-D3BA-0ADD00012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340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D9A6-4FB5-D05D-F053-DEDCA5748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9"/>
            <a:ext cx="10632067" cy="1078618"/>
          </a:xfrm>
        </p:spPr>
        <p:txBody>
          <a:bodyPr/>
          <a:lstStyle/>
          <a:p>
            <a:r>
              <a:rPr lang="en-GB" dirty="0"/>
              <a:t>Scheduling and organising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7922D-DC44-F3B7-8449-E5BB9C87B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2968979"/>
            <a:ext cx="10632067" cy="3120672"/>
          </a:xfrm>
        </p:spPr>
        <p:txBody>
          <a:bodyPr/>
          <a:lstStyle/>
          <a:p>
            <a:r>
              <a:rPr lang="en-GB" dirty="0"/>
              <a:t>Work Breakdown Structure (WBS)</a:t>
            </a:r>
          </a:p>
          <a:p>
            <a:r>
              <a:rPr lang="en-GB" dirty="0"/>
              <a:t>Gantt Charts</a:t>
            </a:r>
          </a:p>
          <a:p>
            <a:r>
              <a:rPr lang="en-GB" dirty="0"/>
              <a:t>PERT Charts</a:t>
            </a:r>
          </a:p>
          <a:p>
            <a:r>
              <a:rPr lang="en-GB" dirty="0"/>
              <a:t>Critical Path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B3F54-2E6D-0EA0-BE65-30A59E8BF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Attendance Code: </a:t>
            </a:r>
          </a:p>
        </p:txBody>
      </p:sp>
    </p:spTree>
    <p:extLst>
      <p:ext uri="{BB962C8B-B14F-4D97-AF65-F5344CB8AC3E}">
        <p14:creationId xmlns:p14="http://schemas.microsoft.com/office/powerpoint/2010/main" val="925172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5DDF7-23A3-0B12-5401-130556CFA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1B36F-EEF3-4DDF-4174-D534CB422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93126"/>
            <a:ext cx="10983365" cy="3636088"/>
          </a:xfrm>
        </p:spPr>
        <p:txBody>
          <a:bodyPr/>
          <a:lstStyle/>
          <a:p>
            <a:r>
              <a:rPr lang="en-GB" b="1" dirty="0"/>
              <a:t>“The process of planning the project timeline, tasks, resource allocation and dependencies…”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GOAL?</a:t>
            </a:r>
          </a:p>
          <a:p>
            <a:pPr lvl="1"/>
            <a:r>
              <a:rPr lang="en-GB" dirty="0"/>
              <a:t>To provide a roadmap for your team to ensure the project stays on time and within the resource allocation.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CB656E-58F6-48F4-559E-9ADA25D4D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</p:spTree>
    <p:extLst>
      <p:ext uri="{BB962C8B-B14F-4D97-AF65-F5344CB8AC3E}">
        <p14:creationId xmlns:p14="http://schemas.microsoft.com/office/powerpoint/2010/main" val="4148325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E60AD-5472-F379-CCC6-99E49E126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9E750-FCAC-A800-C268-A0FCC2829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Scheduling – some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0760D-90E7-D887-510F-F8554776E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93126"/>
            <a:ext cx="10983365" cy="3636088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Timeline</a:t>
            </a:r>
            <a:r>
              <a:rPr lang="en-GB" dirty="0"/>
              <a:t>: Start/end dates, milestones, deadlines.</a:t>
            </a:r>
          </a:p>
          <a:p>
            <a:r>
              <a:rPr lang="en-GB" b="1" dirty="0"/>
              <a:t>Tasks</a:t>
            </a:r>
            <a:r>
              <a:rPr lang="en-GB" dirty="0"/>
              <a:t>: All activities which must be done to complete the project.</a:t>
            </a:r>
          </a:p>
          <a:p>
            <a:r>
              <a:rPr lang="en-GB" b="1" dirty="0"/>
              <a:t>Deliverables</a:t>
            </a:r>
            <a:r>
              <a:rPr lang="en-GB" dirty="0"/>
              <a:t>: Products, process, events, results, etc.</a:t>
            </a:r>
          </a:p>
          <a:p>
            <a:r>
              <a:rPr lang="en-GB" b="1" dirty="0"/>
              <a:t>Resources</a:t>
            </a:r>
            <a:r>
              <a:rPr lang="en-GB" dirty="0"/>
              <a:t>: People, equipment, time, budget (if relevant).</a:t>
            </a:r>
          </a:p>
          <a:p>
            <a:r>
              <a:rPr lang="en-GB" b="1" dirty="0"/>
              <a:t>Dependencies</a:t>
            </a:r>
            <a:r>
              <a:rPr lang="en-GB" dirty="0"/>
              <a:t>: Relationships between tasks – i.e. which tasks must be completed before others can start.</a:t>
            </a:r>
          </a:p>
          <a:p>
            <a:r>
              <a:rPr lang="en-GB" b="1" dirty="0"/>
              <a:t>Milestones</a:t>
            </a:r>
            <a:r>
              <a:rPr lang="en-GB" dirty="0"/>
              <a:t>: Major points in the timeline marking a deliverable or deadline.</a:t>
            </a:r>
          </a:p>
          <a:p>
            <a:r>
              <a:rPr lang="en-GB" b="1" dirty="0"/>
              <a:t>Critical Path</a:t>
            </a:r>
            <a:r>
              <a:rPr lang="en-GB" dirty="0"/>
              <a:t>: The order of tasks which result in the shortest time to project completion.</a:t>
            </a:r>
          </a:p>
          <a:p>
            <a:r>
              <a:rPr lang="en-GB" b="1" dirty="0"/>
              <a:t>Work Breakdown Structure</a:t>
            </a:r>
            <a:r>
              <a:rPr lang="en-GB" dirty="0"/>
              <a:t>: A hierarchical list of tasks making up the project.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051018-4DED-DCFE-BDE7-4048F2BF9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</p:spTree>
    <p:extLst>
      <p:ext uri="{BB962C8B-B14F-4D97-AF65-F5344CB8AC3E}">
        <p14:creationId xmlns:p14="http://schemas.microsoft.com/office/powerpoint/2010/main" val="3925121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F5A7ED4-2CDA-B3D1-6F30-4DA1B7853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Attendance Code: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0FE540-5058-1284-EA1E-B0F8EED168F3}"/>
              </a:ext>
            </a:extLst>
          </p:cNvPr>
          <p:cNvSpPr txBox="1"/>
          <p:nvPr/>
        </p:nvSpPr>
        <p:spPr>
          <a:xfrm>
            <a:off x="715383" y="1095022"/>
            <a:ext cx="55093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Work Breakdown Structure</a:t>
            </a:r>
          </a:p>
          <a:p>
            <a:r>
              <a:rPr lang="en-GB" dirty="0"/>
              <a:t>	Defines the scope of the project.</a:t>
            </a:r>
          </a:p>
          <a:p>
            <a:r>
              <a:rPr lang="en-GB" dirty="0"/>
              <a:t>	Lists all tasks and deliverables for the project.</a:t>
            </a:r>
          </a:p>
          <a:p>
            <a:r>
              <a:rPr lang="en-GB" dirty="0"/>
              <a:t>	Arranged in a hierarchy.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D1D371C-46B9-07CB-112E-F01D6FA83D39}"/>
              </a:ext>
            </a:extLst>
          </p:cNvPr>
          <p:cNvGrpSpPr/>
          <p:nvPr/>
        </p:nvGrpSpPr>
        <p:grpSpPr>
          <a:xfrm>
            <a:off x="2985245" y="2338919"/>
            <a:ext cx="8663564" cy="3676123"/>
            <a:chOff x="2985245" y="2338919"/>
            <a:chExt cx="8663564" cy="367612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7BBAA5D-E4AC-F15A-D498-F9D23DA27D02}"/>
                </a:ext>
              </a:extLst>
            </p:cNvPr>
            <p:cNvSpPr/>
            <p:nvPr/>
          </p:nvSpPr>
          <p:spPr>
            <a:xfrm>
              <a:off x="6417070" y="2338919"/>
              <a:ext cx="1794934" cy="57202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0. Web App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F0F64DB-C537-CF6B-6289-DC67B8E0F2CF}"/>
                </a:ext>
              </a:extLst>
            </p:cNvPr>
            <p:cNvSpPr/>
            <p:nvPr/>
          </p:nvSpPr>
          <p:spPr>
            <a:xfrm>
              <a:off x="2985246" y="3514903"/>
              <a:ext cx="1478846" cy="445910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1. Project Management Docs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DCF03C0-ACB5-EF50-1675-7C981563E5BF}"/>
                </a:ext>
              </a:extLst>
            </p:cNvPr>
            <p:cNvSpPr/>
            <p:nvPr/>
          </p:nvSpPr>
          <p:spPr>
            <a:xfrm>
              <a:off x="4780180" y="3514903"/>
              <a:ext cx="1478846" cy="445910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2. Requirements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8BF010-4E7D-4C38-1587-8935DD7C7E5D}"/>
                </a:ext>
              </a:extLst>
            </p:cNvPr>
            <p:cNvSpPr/>
            <p:nvPr/>
          </p:nvSpPr>
          <p:spPr>
            <a:xfrm>
              <a:off x="6575114" y="3514903"/>
              <a:ext cx="1478846" cy="445910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3. Back End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F5C77F6-C7D5-8F5A-4412-448658F22E22}"/>
                </a:ext>
              </a:extLst>
            </p:cNvPr>
            <p:cNvSpPr/>
            <p:nvPr/>
          </p:nvSpPr>
          <p:spPr>
            <a:xfrm>
              <a:off x="8370048" y="3514903"/>
              <a:ext cx="1478846" cy="445910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4. Front End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1E22E76-3929-F622-2405-EF0DC14552D0}"/>
                </a:ext>
              </a:extLst>
            </p:cNvPr>
            <p:cNvSpPr/>
            <p:nvPr/>
          </p:nvSpPr>
          <p:spPr>
            <a:xfrm>
              <a:off x="10164982" y="3514903"/>
              <a:ext cx="1478846" cy="445910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5. Testing</a:t>
              </a:r>
            </a:p>
          </p:txBody>
        </p: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C2574312-42A0-0D9C-BE78-D8A6F1646A43}"/>
                </a:ext>
              </a:extLst>
            </p:cNvPr>
            <p:cNvCxnSpPr>
              <a:stCxn id="4" idx="2"/>
              <a:endCxn id="5" idx="0"/>
            </p:cNvCxnSpPr>
            <p:nvPr/>
          </p:nvCxnSpPr>
          <p:spPr>
            <a:xfrm rot="5400000">
              <a:off x="5217625" y="1417990"/>
              <a:ext cx="603957" cy="3589868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: Elbow 12">
              <a:extLst>
                <a:ext uri="{FF2B5EF4-FFF2-40B4-BE49-F238E27FC236}">
                  <a16:creationId xmlns:a16="http://schemas.microsoft.com/office/drawing/2014/main" id="{726CE988-2195-6969-22A2-0079943028A0}"/>
                </a:ext>
              </a:extLst>
            </p:cNvPr>
            <p:cNvCxnSpPr>
              <a:stCxn id="4" idx="2"/>
              <a:endCxn id="6" idx="0"/>
            </p:cNvCxnSpPr>
            <p:nvPr/>
          </p:nvCxnSpPr>
          <p:spPr>
            <a:xfrm rot="5400000">
              <a:off x="6115092" y="2315457"/>
              <a:ext cx="603957" cy="1794934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AD8F0F8F-9B70-F87E-DF7F-EFB22335CDFC}"/>
                </a:ext>
              </a:extLst>
            </p:cNvPr>
            <p:cNvCxnSpPr>
              <a:stCxn id="4" idx="2"/>
              <a:endCxn id="7" idx="0"/>
            </p:cNvCxnSpPr>
            <p:nvPr/>
          </p:nvCxnSpPr>
          <p:spPr>
            <a:xfrm rot="5400000">
              <a:off x="7012559" y="3212924"/>
              <a:ext cx="603957" cy="12700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: Elbow 16">
              <a:extLst>
                <a:ext uri="{FF2B5EF4-FFF2-40B4-BE49-F238E27FC236}">
                  <a16:creationId xmlns:a16="http://schemas.microsoft.com/office/drawing/2014/main" id="{B116E78C-06C6-8C51-1EB9-9B3A8D13D3A1}"/>
                </a:ext>
              </a:extLst>
            </p:cNvPr>
            <p:cNvCxnSpPr>
              <a:stCxn id="4" idx="2"/>
              <a:endCxn id="8" idx="0"/>
            </p:cNvCxnSpPr>
            <p:nvPr/>
          </p:nvCxnSpPr>
          <p:spPr>
            <a:xfrm rot="16200000" flipH="1">
              <a:off x="7910026" y="2315457"/>
              <a:ext cx="603957" cy="1794934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: Elbow 18">
              <a:extLst>
                <a:ext uri="{FF2B5EF4-FFF2-40B4-BE49-F238E27FC236}">
                  <a16:creationId xmlns:a16="http://schemas.microsoft.com/office/drawing/2014/main" id="{A320534D-E747-8155-F69F-3BE230713E88}"/>
                </a:ext>
              </a:extLst>
            </p:cNvPr>
            <p:cNvCxnSpPr>
              <a:stCxn id="4" idx="2"/>
              <a:endCxn id="9" idx="0"/>
            </p:cNvCxnSpPr>
            <p:nvPr/>
          </p:nvCxnSpPr>
          <p:spPr>
            <a:xfrm rot="16200000" flipH="1">
              <a:off x="8807493" y="1417990"/>
              <a:ext cx="603957" cy="3589868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CA375C7-017F-A620-FDF2-7391051FF43F}"/>
                </a:ext>
              </a:extLst>
            </p:cNvPr>
            <p:cNvSpPr/>
            <p:nvPr/>
          </p:nvSpPr>
          <p:spPr>
            <a:xfrm>
              <a:off x="3509515" y="4199646"/>
              <a:ext cx="954577" cy="44591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1.1 Project Scope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ADC4DD0-D36E-4394-D0CC-40B2A1EF8D56}"/>
                </a:ext>
              </a:extLst>
            </p:cNvPr>
            <p:cNvSpPr/>
            <p:nvPr/>
          </p:nvSpPr>
          <p:spPr>
            <a:xfrm>
              <a:off x="3531472" y="4884389"/>
              <a:ext cx="954577" cy="44591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1.2 WBS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FC301B4-64E3-ACB7-8D03-B12C3A48341B}"/>
                </a:ext>
              </a:extLst>
            </p:cNvPr>
            <p:cNvSpPr/>
            <p:nvPr/>
          </p:nvSpPr>
          <p:spPr>
            <a:xfrm>
              <a:off x="3531472" y="5569132"/>
              <a:ext cx="954577" cy="44591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1.3 Project Management Plan</a:t>
              </a:r>
            </a:p>
          </p:txBody>
        </p: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D3BC78EA-41A2-36D5-BBD7-D2A8788FAA1F}"/>
                </a:ext>
              </a:extLst>
            </p:cNvPr>
            <p:cNvCxnSpPr>
              <a:stCxn id="5" idx="1"/>
              <a:endCxn id="20" idx="1"/>
            </p:cNvCxnSpPr>
            <p:nvPr/>
          </p:nvCxnSpPr>
          <p:spPr>
            <a:xfrm rot="10800000" flipH="1" flipV="1">
              <a:off x="2985245" y="3737857"/>
              <a:ext cx="524269" cy="684743"/>
            </a:xfrm>
            <a:prstGeom prst="bentConnector3">
              <a:avLst>
                <a:gd name="adj1" fmla="val -15611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0DEEB4A0-508B-1D1E-811C-2EEB3E19B089}"/>
                </a:ext>
              </a:extLst>
            </p:cNvPr>
            <p:cNvCxnSpPr>
              <a:stCxn id="5" idx="1"/>
              <a:endCxn id="21" idx="1"/>
            </p:cNvCxnSpPr>
            <p:nvPr/>
          </p:nvCxnSpPr>
          <p:spPr>
            <a:xfrm rot="10800000" flipH="1" flipV="1">
              <a:off x="2985246" y="3737858"/>
              <a:ext cx="546226" cy="1369486"/>
            </a:xfrm>
            <a:prstGeom prst="bentConnector3">
              <a:avLst>
                <a:gd name="adj1" fmla="val -14984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A9DF4084-0A7C-4CEA-1DCF-C4B39142C27D}"/>
                </a:ext>
              </a:extLst>
            </p:cNvPr>
            <p:cNvCxnSpPr>
              <a:stCxn id="5" idx="1"/>
              <a:endCxn id="22" idx="1"/>
            </p:cNvCxnSpPr>
            <p:nvPr/>
          </p:nvCxnSpPr>
          <p:spPr>
            <a:xfrm rot="10800000" flipH="1" flipV="1">
              <a:off x="2985246" y="3737857"/>
              <a:ext cx="546226" cy="2054229"/>
            </a:xfrm>
            <a:prstGeom prst="bentConnector3">
              <a:avLst>
                <a:gd name="adj1" fmla="val -14984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E6FD0BA-D83E-23B7-C305-92E74E772E27}"/>
                </a:ext>
              </a:extLst>
            </p:cNvPr>
            <p:cNvSpPr/>
            <p:nvPr/>
          </p:nvSpPr>
          <p:spPr>
            <a:xfrm>
              <a:off x="5304449" y="4890212"/>
              <a:ext cx="954577" cy="44591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2.2 User Stories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9467261-2A38-1BDA-DF98-2FB37FFE1B47}"/>
                </a:ext>
              </a:extLst>
            </p:cNvPr>
            <p:cNvSpPr/>
            <p:nvPr/>
          </p:nvSpPr>
          <p:spPr>
            <a:xfrm>
              <a:off x="5308809" y="4199646"/>
              <a:ext cx="954577" cy="44591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2.1 Visual Design Theme</a:t>
              </a:r>
            </a:p>
          </p:txBody>
        </p:sp>
        <p:cxnSp>
          <p:nvCxnSpPr>
            <p:cNvPr id="41" name="Connector: Elbow 40">
              <a:extLst>
                <a:ext uri="{FF2B5EF4-FFF2-40B4-BE49-F238E27FC236}">
                  <a16:creationId xmlns:a16="http://schemas.microsoft.com/office/drawing/2014/main" id="{CB2ABFEE-A0A6-B116-1FC2-75F7530DA242}"/>
                </a:ext>
              </a:extLst>
            </p:cNvPr>
            <p:cNvCxnSpPr>
              <a:stCxn id="6" idx="1"/>
              <a:endCxn id="39" idx="1"/>
            </p:cNvCxnSpPr>
            <p:nvPr/>
          </p:nvCxnSpPr>
          <p:spPr>
            <a:xfrm rot="10800000" flipH="1" flipV="1">
              <a:off x="4780179" y="3737857"/>
              <a:ext cx="528629" cy="684743"/>
            </a:xfrm>
            <a:prstGeom prst="bentConnector3">
              <a:avLst>
                <a:gd name="adj1" fmla="val -43244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: Elbow 42">
              <a:extLst>
                <a:ext uri="{FF2B5EF4-FFF2-40B4-BE49-F238E27FC236}">
                  <a16:creationId xmlns:a16="http://schemas.microsoft.com/office/drawing/2014/main" id="{47CABBAF-9B67-F3A4-ED24-8B4A8AA6DA81}"/>
                </a:ext>
              </a:extLst>
            </p:cNvPr>
            <p:cNvCxnSpPr>
              <a:stCxn id="6" idx="1"/>
              <a:endCxn id="38" idx="1"/>
            </p:cNvCxnSpPr>
            <p:nvPr/>
          </p:nvCxnSpPr>
          <p:spPr>
            <a:xfrm rot="10800000" flipH="1" flipV="1">
              <a:off x="4780179" y="3737857"/>
              <a:ext cx="524269" cy="1375309"/>
            </a:xfrm>
            <a:prstGeom prst="bentConnector3">
              <a:avLst>
                <a:gd name="adj1" fmla="val -43604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650762A-2636-A7DE-B64B-124F0DD9893E}"/>
                </a:ext>
              </a:extLst>
            </p:cNvPr>
            <p:cNvSpPr/>
            <p:nvPr/>
          </p:nvSpPr>
          <p:spPr>
            <a:xfrm>
              <a:off x="7099383" y="4199646"/>
              <a:ext cx="954577" cy="44591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3.1 Database Dev</a:t>
              </a:r>
            </a:p>
          </p:txBody>
        </p:sp>
        <p:cxnSp>
          <p:nvCxnSpPr>
            <p:cNvPr id="47" name="Connector: Elbow 46">
              <a:extLst>
                <a:ext uri="{FF2B5EF4-FFF2-40B4-BE49-F238E27FC236}">
                  <a16:creationId xmlns:a16="http://schemas.microsoft.com/office/drawing/2014/main" id="{F0A75F53-0C5F-C613-D5CD-BE522248A982}"/>
                </a:ext>
              </a:extLst>
            </p:cNvPr>
            <p:cNvCxnSpPr>
              <a:stCxn id="7" idx="1"/>
              <a:endCxn id="44" idx="1"/>
            </p:cNvCxnSpPr>
            <p:nvPr/>
          </p:nvCxnSpPr>
          <p:spPr>
            <a:xfrm rot="10800000" flipH="1" flipV="1">
              <a:off x="6575113" y="3737857"/>
              <a:ext cx="524269" cy="684743"/>
            </a:xfrm>
            <a:prstGeom prst="bentConnector3">
              <a:avLst>
                <a:gd name="adj1" fmla="val -43604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FAF88AD-7E0A-364C-F1C0-00061CD3C508}"/>
                </a:ext>
              </a:extLst>
            </p:cNvPr>
            <p:cNvSpPr/>
            <p:nvPr/>
          </p:nvSpPr>
          <p:spPr>
            <a:xfrm>
              <a:off x="8889957" y="4199645"/>
              <a:ext cx="954577" cy="44591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4.1 Landing Page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2D5A7F5-D596-F914-95DE-AE3651A8D850}"/>
                </a:ext>
              </a:extLst>
            </p:cNvPr>
            <p:cNvSpPr/>
            <p:nvPr/>
          </p:nvSpPr>
          <p:spPr>
            <a:xfrm>
              <a:off x="8917516" y="4884389"/>
              <a:ext cx="954577" cy="44591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4.2 Admin Interface</a:t>
              </a:r>
            </a:p>
          </p:txBody>
        </p:sp>
        <p:cxnSp>
          <p:nvCxnSpPr>
            <p:cNvPr id="51" name="Connector: Elbow 50">
              <a:extLst>
                <a:ext uri="{FF2B5EF4-FFF2-40B4-BE49-F238E27FC236}">
                  <a16:creationId xmlns:a16="http://schemas.microsoft.com/office/drawing/2014/main" id="{2E71182F-B0AD-1EC1-4EB6-7AF4E6F15DCA}"/>
                </a:ext>
              </a:extLst>
            </p:cNvPr>
            <p:cNvCxnSpPr>
              <a:stCxn id="8" idx="1"/>
              <a:endCxn id="48" idx="1"/>
            </p:cNvCxnSpPr>
            <p:nvPr/>
          </p:nvCxnSpPr>
          <p:spPr>
            <a:xfrm rot="10800000" flipH="1" flipV="1">
              <a:off x="8370047" y="3737858"/>
              <a:ext cx="519909" cy="684742"/>
            </a:xfrm>
            <a:prstGeom prst="bentConnector3">
              <a:avLst>
                <a:gd name="adj1" fmla="val -43969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: Elbow 52">
              <a:extLst>
                <a:ext uri="{FF2B5EF4-FFF2-40B4-BE49-F238E27FC236}">
                  <a16:creationId xmlns:a16="http://schemas.microsoft.com/office/drawing/2014/main" id="{A0978871-1D69-CC6E-02CB-9F552E604C8B}"/>
                </a:ext>
              </a:extLst>
            </p:cNvPr>
            <p:cNvCxnSpPr>
              <a:stCxn id="8" idx="1"/>
              <a:endCxn id="49" idx="1"/>
            </p:cNvCxnSpPr>
            <p:nvPr/>
          </p:nvCxnSpPr>
          <p:spPr>
            <a:xfrm rot="10800000" flipH="1" flipV="1">
              <a:off x="8370048" y="3737858"/>
              <a:ext cx="547468" cy="1369486"/>
            </a:xfrm>
            <a:prstGeom prst="bentConnector3">
              <a:avLst>
                <a:gd name="adj1" fmla="val -41756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D2DFE4A-D6E8-C81A-934B-CE90C7808C3D}"/>
                </a:ext>
              </a:extLst>
            </p:cNvPr>
            <p:cNvSpPr/>
            <p:nvPr/>
          </p:nvSpPr>
          <p:spPr>
            <a:xfrm>
              <a:off x="10694232" y="4199645"/>
              <a:ext cx="954577" cy="44591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5.1 Beta Testing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7646845-52B1-C7AD-E05B-C5844DDD834C}"/>
                </a:ext>
              </a:extLst>
            </p:cNvPr>
            <p:cNvSpPr/>
            <p:nvPr/>
          </p:nvSpPr>
          <p:spPr>
            <a:xfrm>
              <a:off x="10694232" y="4884389"/>
              <a:ext cx="954577" cy="44591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5.2 Regression Testing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ACBAB6C-6FA0-24BB-5751-CBE1B041E684}"/>
                </a:ext>
              </a:extLst>
            </p:cNvPr>
            <p:cNvSpPr/>
            <p:nvPr/>
          </p:nvSpPr>
          <p:spPr>
            <a:xfrm>
              <a:off x="10689251" y="5569132"/>
              <a:ext cx="954577" cy="44591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5.3 Release Candidate</a:t>
              </a:r>
            </a:p>
          </p:txBody>
        </p:sp>
        <p:cxnSp>
          <p:nvCxnSpPr>
            <p:cNvPr id="60" name="Connector: Elbow 59">
              <a:extLst>
                <a:ext uri="{FF2B5EF4-FFF2-40B4-BE49-F238E27FC236}">
                  <a16:creationId xmlns:a16="http://schemas.microsoft.com/office/drawing/2014/main" id="{FBDF9D50-382C-EABA-680E-95C63268A026}"/>
                </a:ext>
              </a:extLst>
            </p:cNvPr>
            <p:cNvCxnSpPr>
              <a:stCxn id="9" idx="1"/>
              <a:endCxn id="54" idx="1"/>
            </p:cNvCxnSpPr>
            <p:nvPr/>
          </p:nvCxnSpPr>
          <p:spPr>
            <a:xfrm rot="10800000" flipH="1" flipV="1">
              <a:off x="10164982" y="3737858"/>
              <a:ext cx="529250" cy="684742"/>
            </a:xfrm>
            <a:prstGeom prst="bentConnector3">
              <a:avLst>
                <a:gd name="adj1" fmla="val -4319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: Elbow 61">
              <a:extLst>
                <a:ext uri="{FF2B5EF4-FFF2-40B4-BE49-F238E27FC236}">
                  <a16:creationId xmlns:a16="http://schemas.microsoft.com/office/drawing/2014/main" id="{2E44BF81-B577-D7B0-8DD1-614D27B65AA0}"/>
                </a:ext>
              </a:extLst>
            </p:cNvPr>
            <p:cNvCxnSpPr>
              <a:stCxn id="9" idx="1"/>
              <a:endCxn id="55" idx="1"/>
            </p:cNvCxnSpPr>
            <p:nvPr/>
          </p:nvCxnSpPr>
          <p:spPr>
            <a:xfrm rot="10800000" flipH="1" flipV="1">
              <a:off x="10164982" y="3737858"/>
              <a:ext cx="529250" cy="1369486"/>
            </a:xfrm>
            <a:prstGeom prst="bentConnector3">
              <a:avLst>
                <a:gd name="adj1" fmla="val -4319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: Elbow 63">
              <a:extLst>
                <a:ext uri="{FF2B5EF4-FFF2-40B4-BE49-F238E27FC236}">
                  <a16:creationId xmlns:a16="http://schemas.microsoft.com/office/drawing/2014/main" id="{F23522D9-C239-1C8E-B081-941669A20264}"/>
                </a:ext>
              </a:extLst>
            </p:cNvPr>
            <p:cNvCxnSpPr>
              <a:stCxn id="9" idx="1"/>
              <a:endCxn id="56" idx="1"/>
            </p:cNvCxnSpPr>
            <p:nvPr/>
          </p:nvCxnSpPr>
          <p:spPr>
            <a:xfrm rot="10800000" flipH="1" flipV="1">
              <a:off x="10164981" y="3737857"/>
              <a:ext cx="524269" cy="2054229"/>
            </a:xfrm>
            <a:prstGeom prst="bentConnector3">
              <a:avLst>
                <a:gd name="adj1" fmla="val -43604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2F91279-A629-DB0D-D8E8-274513CCC411}"/>
              </a:ext>
            </a:extLst>
          </p:cNvPr>
          <p:cNvGrpSpPr/>
          <p:nvPr/>
        </p:nvGrpSpPr>
        <p:grpSpPr>
          <a:xfrm>
            <a:off x="225777" y="2490283"/>
            <a:ext cx="5870223" cy="646331"/>
            <a:chOff x="225777" y="2490283"/>
            <a:chExt cx="5870223" cy="646331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FDC6AA7-B72A-11E2-062D-35DC1E515446}"/>
                </a:ext>
              </a:extLst>
            </p:cNvPr>
            <p:cNvSpPr txBox="1"/>
            <p:nvPr/>
          </p:nvSpPr>
          <p:spPr>
            <a:xfrm>
              <a:off x="225777" y="2490283"/>
              <a:ext cx="154535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C00000"/>
                  </a:solidFill>
                </a:rPr>
                <a:t>Top level/</a:t>
              </a:r>
            </a:p>
            <a:p>
              <a:r>
                <a:rPr lang="en-GB" dirty="0">
                  <a:solidFill>
                    <a:srgbClr val="C00000"/>
                  </a:solidFill>
                </a:rPr>
                <a:t>Overall Scope</a:t>
              </a: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7D18BB71-E0A5-1743-2422-36D194C2F871}"/>
                </a:ext>
              </a:extLst>
            </p:cNvPr>
            <p:cNvCxnSpPr>
              <a:stCxn id="66" idx="3"/>
            </p:cNvCxnSpPr>
            <p:nvPr/>
          </p:nvCxnSpPr>
          <p:spPr>
            <a:xfrm flipV="1">
              <a:off x="1771136" y="2813448"/>
              <a:ext cx="4324864" cy="1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CF460AB-72C7-55AD-2356-786294A45213}"/>
              </a:ext>
            </a:extLst>
          </p:cNvPr>
          <p:cNvGrpSpPr/>
          <p:nvPr/>
        </p:nvGrpSpPr>
        <p:grpSpPr>
          <a:xfrm>
            <a:off x="224061" y="3330710"/>
            <a:ext cx="2564295" cy="646331"/>
            <a:chOff x="224061" y="3330710"/>
            <a:chExt cx="2564295" cy="646331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358AD5B-B694-1352-2031-78FDF1F43090}"/>
                </a:ext>
              </a:extLst>
            </p:cNvPr>
            <p:cNvSpPr txBox="1"/>
            <p:nvPr/>
          </p:nvSpPr>
          <p:spPr>
            <a:xfrm>
              <a:off x="224061" y="3330710"/>
              <a:ext cx="132228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C00000"/>
                  </a:solidFill>
                </a:rPr>
                <a:t>Major </a:t>
              </a:r>
            </a:p>
            <a:p>
              <a:r>
                <a:rPr lang="en-GB" dirty="0">
                  <a:solidFill>
                    <a:srgbClr val="C00000"/>
                  </a:solidFill>
                </a:rPr>
                <a:t>deliverables</a:t>
              </a: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3F70B02F-8F9A-AAD6-235C-BAAD72184986}"/>
                </a:ext>
              </a:extLst>
            </p:cNvPr>
            <p:cNvCxnSpPr>
              <a:stCxn id="70" idx="3"/>
            </p:cNvCxnSpPr>
            <p:nvPr/>
          </p:nvCxnSpPr>
          <p:spPr>
            <a:xfrm flipV="1">
              <a:off x="1546346" y="3653875"/>
              <a:ext cx="1242010" cy="1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8369235-2814-6834-5880-4270DFDF06AB}"/>
              </a:ext>
            </a:extLst>
          </p:cNvPr>
          <p:cNvGrpSpPr/>
          <p:nvPr/>
        </p:nvGrpSpPr>
        <p:grpSpPr>
          <a:xfrm>
            <a:off x="224061" y="4422600"/>
            <a:ext cx="2564295" cy="369332"/>
            <a:chOff x="224061" y="4422600"/>
            <a:chExt cx="2564295" cy="369332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EAE1EC8-8C6A-AF11-3792-26B0746B75B5}"/>
                </a:ext>
              </a:extLst>
            </p:cNvPr>
            <p:cNvSpPr txBox="1"/>
            <p:nvPr/>
          </p:nvSpPr>
          <p:spPr>
            <a:xfrm>
              <a:off x="224061" y="4422600"/>
              <a:ext cx="11701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C00000"/>
                  </a:solidFill>
                </a:rPr>
                <a:t>Sub-Tasks</a:t>
              </a:r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0A71C9D6-16B0-E66D-4A61-4C944A83A737}"/>
                </a:ext>
              </a:extLst>
            </p:cNvPr>
            <p:cNvCxnSpPr>
              <a:stCxn id="74" idx="3"/>
            </p:cNvCxnSpPr>
            <p:nvPr/>
          </p:nvCxnSpPr>
          <p:spPr>
            <a:xfrm>
              <a:off x="1394253" y="4607266"/>
              <a:ext cx="1394103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781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E175BF-065D-1FB5-AEF9-D1C2BA108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D43E43-2BB9-01D2-4BD4-C156865F1911}"/>
              </a:ext>
            </a:extLst>
          </p:cNvPr>
          <p:cNvSpPr txBox="1"/>
          <p:nvPr/>
        </p:nvSpPr>
        <p:spPr>
          <a:xfrm>
            <a:off x="5029200" y="1028343"/>
            <a:ext cx="5063630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 Web App Project</a:t>
            </a:r>
          </a:p>
          <a:p>
            <a:r>
              <a:rPr lang="en-GB" dirty="0"/>
              <a:t>	1. Project Management Docs</a:t>
            </a:r>
          </a:p>
          <a:p>
            <a:r>
              <a:rPr lang="en-GB" dirty="0"/>
              <a:t>		1.1 Project Scope</a:t>
            </a:r>
          </a:p>
          <a:p>
            <a:r>
              <a:rPr lang="en-GB" dirty="0"/>
              <a:t>		1.2 Work Breakdown Structure</a:t>
            </a:r>
          </a:p>
          <a:p>
            <a:r>
              <a:rPr lang="en-GB" dirty="0"/>
              <a:t>		1.3 Project Management Plan</a:t>
            </a:r>
          </a:p>
          <a:p>
            <a:r>
              <a:rPr lang="en-GB" dirty="0"/>
              <a:t>	2. Requirements</a:t>
            </a:r>
          </a:p>
          <a:p>
            <a:r>
              <a:rPr lang="en-GB" dirty="0"/>
              <a:t>		2.1 Visual Design Theme</a:t>
            </a:r>
          </a:p>
          <a:p>
            <a:r>
              <a:rPr lang="en-GB" dirty="0"/>
              <a:t>		2.2 User Stories</a:t>
            </a:r>
          </a:p>
          <a:p>
            <a:r>
              <a:rPr lang="en-GB" dirty="0"/>
              <a:t>	3. Back End</a:t>
            </a:r>
          </a:p>
          <a:p>
            <a:r>
              <a:rPr lang="en-GB" dirty="0"/>
              <a:t>		3.1 Database Dev</a:t>
            </a:r>
          </a:p>
          <a:p>
            <a:r>
              <a:rPr lang="en-GB" dirty="0"/>
              <a:t>	4. Front End</a:t>
            </a:r>
          </a:p>
          <a:p>
            <a:r>
              <a:rPr lang="en-GB" dirty="0"/>
              <a:t>		4.1 Landing Page</a:t>
            </a:r>
          </a:p>
          <a:p>
            <a:r>
              <a:rPr lang="en-GB" dirty="0"/>
              <a:t>		4.2 Admin Interface</a:t>
            </a:r>
          </a:p>
          <a:p>
            <a:r>
              <a:rPr lang="en-GB" dirty="0"/>
              <a:t>	5. Testing</a:t>
            </a:r>
          </a:p>
          <a:p>
            <a:r>
              <a:rPr lang="en-GB" dirty="0"/>
              <a:t>		5.1 Beta testing</a:t>
            </a:r>
          </a:p>
          <a:p>
            <a:r>
              <a:rPr lang="en-GB" dirty="0"/>
              <a:t>		5.2 Regression Testing</a:t>
            </a:r>
          </a:p>
          <a:p>
            <a:r>
              <a:rPr lang="en-GB" dirty="0"/>
              <a:t>		5.3 Release Candidate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972DB-E253-1065-371E-5600D39A3A46}"/>
              </a:ext>
            </a:extLst>
          </p:cNvPr>
          <p:cNvSpPr txBox="1"/>
          <p:nvPr/>
        </p:nvSpPr>
        <p:spPr>
          <a:xfrm>
            <a:off x="715383" y="2725271"/>
            <a:ext cx="2786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 hierarchical list of tasks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DFBCC3A-3FCA-A539-6DDC-AD70212DB1F1}"/>
              </a:ext>
            </a:extLst>
          </p:cNvPr>
          <p:cNvCxnSpPr>
            <a:stCxn id="4" idx="3"/>
          </p:cNvCxnSpPr>
          <p:nvPr/>
        </p:nvCxnSpPr>
        <p:spPr>
          <a:xfrm>
            <a:off x="3502364" y="2909937"/>
            <a:ext cx="17527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12EADCC-035D-E0EA-7AA8-7552747CB076}"/>
              </a:ext>
            </a:extLst>
          </p:cNvPr>
          <p:cNvSpPr txBox="1"/>
          <p:nvPr/>
        </p:nvSpPr>
        <p:spPr>
          <a:xfrm>
            <a:off x="715383" y="4468366"/>
            <a:ext cx="41165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an agile project setting, this may be amended as the project progresses….</a:t>
            </a:r>
          </a:p>
        </p:txBody>
      </p:sp>
    </p:spTree>
    <p:extLst>
      <p:ext uri="{BB962C8B-B14F-4D97-AF65-F5344CB8AC3E}">
        <p14:creationId xmlns:p14="http://schemas.microsoft.com/office/powerpoint/2010/main" val="399043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461EC6A-59D9-096A-F39D-50F0069AE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275790-82C8-9AB0-6C05-7BA99CFAAFDC}"/>
              </a:ext>
            </a:extLst>
          </p:cNvPr>
          <p:cNvSpPr txBox="1"/>
          <p:nvPr/>
        </p:nvSpPr>
        <p:spPr>
          <a:xfrm>
            <a:off x="715383" y="863747"/>
            <a:ext cx="1683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Dependencies?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AC12C77-C22B-D869-1110-DC019C5CC834}"/>
              </a:ext>
            </a:extLst>
          </p:cNvPr>
          <p:cNvSpPr/>
          <p:nvPr/>
        </p:nvSpPr>
        <p:spPr>
          <a:xfrm>
            <a:off x="4896598" y="1233079"/>
            <a:ext cx="1415846" cy="7275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Task 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009C5D1-8ACF-D699-979D-9E6121504129}"/>
              </a:ext>
            </a:extLst>
          </p:cNvPr>
          <p:cNvSpPr/>
          <p:nvPr/>
        </p:nvSpPr>
        <p:spPr>
          <a:xfrm>
            <a:off x="6921042" y="1233079"/>
            <a:ext cx="1415846" cy="7275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Task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3EDA069-C033-C5DB-E7F4-95F3F027A049}"/>
              </a:ext>
            </a:extLst>
          </p:cNvPr>
          <p:cNvSpPr/>
          <p:nvPr/>
        </p:nvSpPr>
        <p:spPr>
          <a:xfrm>
            <a:off x="6026150" y="2340368"/>
            <a:ext cx="1415846" cy="7275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Task 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562AD07-1F55-A9D4-F028-28BFB7D28052}"/>
              </a:ext>
            </a:extLst>
          </p:cNvPr>
          <p:cNvSpPr/>
          <p:nvPr/>
        </p:nvSpPr>
        <p:spPr>
          <a:xfrm>
            <a:off x="6026150" y="3281662"/>
            <a:ext cx="1415846" cy="7275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Task 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2F5722-57DA-6D62-0D4D-58C5251A1046}"/>
              </a:ext>
            </a:extLst>
          </p:cNvPr>
          <p:cNvSpPr/>
          <p:nvPr/>
        </p:nvSpPr>
        <p:spPr>
          <a:xfrm>
            <a:off x="6096000" y="4449099"/>
            <a:ext cx="1415846" cy="7275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Task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EFEABB5-B641-B85F-B99F-58C10FA0C2A1}"/>
              </a:ext>
            </a:extLst>
          </p:cNvPr>
          <p:cNvSpPr/>
          <p:nvPr/>
        </p:nvSpPr>
        <p:spPr>
          <a:xfrm>
            <a:off x="6096000" y="5390393"/>
            <a:ext cx="1415846" cy="7275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Task 2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7C51AEF-AC07-5B4D-0E29-9F1DD890D034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6312444" y="1596873"/>
            <a:ext cx="6085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C0FE56AE-6791-B268-4EB5-EA17C1D0158E}"/>
              </a:ext>
            </a:extLst>
          </p:cNvPr>
          <p:cNvCxnSpPr>
            <a:stCxn id="6" idx="3"/>
            <a:endCxn id="7" idx="3"/>
          </p:cNvCxnSpPr>
          <p:nvPr/>
        </p:nvCxnSpPr>
        <p:spPr>
          <a:xfrm>
            <a:off x="7441996" y="2704162"/>
            <a:ext cx="12700" cy="941294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941DDF6F-C6F2-C325-8B06-2AF67C05C916}"/>
              </a:ext>
            </a:extLst>
          </p:cNvPr>
          <p:cNvCxnSpPr>
            <a:stCxn id="8" idx="1"/>
            <a:endCxn id="9" idx="1"/>
          </p:cNvCxnSpPr>
          <p:nvPr/>
        </p:nvCxnSpPr>
        <p:spPr>
          <a:xfrm rot="10800000" flipV="1">
            <a:off x="6096000" y="4812893"/>
            <a:ext cx="12700" cy="941294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7550B7-C507-E291-C22A-2386B2240247}"/>
              </a:ext>
            </a:extLst>
          </p:cNvPr>
          <p:cNvSpPr txBox="1"/>
          <p:nvPr/>
        </p:nvSpPr>
        <p:spPr>
          <a:xfrm>
            <a:off x="2312695" y="1412206"/>
            <a:ext cx="1329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End to start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BDFC2-DDE9-CCF0-95EF-DBD0834A6E38}"/>
              </a:ext>
            </a:extLst>
          </p:cNvPr>
          <p:cNvSpPr txBox="1"/>
          <p:nvPr/>
        </p:nvSpPr>
        <p:spPr>
          <a:xfrm>
            <a:off x="2398857" y="2805477"/>
            <a:ext cx="1260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End to end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9AEAF3-A4A2-514C-1814-68920106D55C}"/>
              </a:ext>
            </a:extLst>
          </p:cNvPr>
          <p:cNvSpPr txBox="1"/>
          <p:nvPr/>
        </p:nvSpPr>
        <p:spPr>
          <a:xfrm>
            <a:off x="2398857" y="4914208"/>
            <a:ext cx="1388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Start to start</a:t>
            </a:r>
          </a:p>
        </p:txBody>
      </p:sp>
    </p:spTree>
    <p:extLst>
      <p:ext uri="{BB962C8B-B14F-4D97-AF65-F5344CB8AC3E}">
        <p14:creationId xmlns:p14="http://schemas.microsoft.com/office/powerpoint/2010/main" val="2974093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8F5856-7132-3BAC-AE0D-0C602F77D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5B6CBF-B44F-1044-5EFA-3E83CFD6D221}"/>
              </a:ext>
            </a:extLst>
          </p:cNvPr>
          <p:cNvSpPr txBox="1"/>
          <p:nvPr/>
        </p:nvSpPr>
        <p:spPr>
          <a:xfrm>
            <a:off x="860612" y="1075765"/>
            <a:ext cx="1866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WBS Dictionary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52BE32-8F1F-B9CF-4BD6-26E46B068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532306"/>
              </p:ext>
            </p:extLst>
          </p:nvPr>
        </p:nvGraphicFramePr>
        <p:xfrm>
          <a:off x="2031999" y="1768930"/>
          <a:ext cx="8128002" cy="415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27323041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0422764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99162312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5009071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3594152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808945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200" dirty="0"/>
                        <a:t>WBS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WBS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Dependencies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Duration (Days)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Resources (People)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34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Project Management Doc. DELIVERABLE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All documentation for planning the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052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000" dirty="0"/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Project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Project Scope 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116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000" dirty="0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WBS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Create a WBS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312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000" dirty="0"/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Project Management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Planning document for the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307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Requirements DELIVERABLE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Requirements for the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179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r>
                        <a:rPr lang="en-GB" sz="1000" dirty="0"/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Visual Design Theme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The look and feel for the 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164725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r>
                        <a:rPr lang="en-GB" sz="1000" dirty="0"/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User Stories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The user requirements and use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589439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r>
                        <a:rPr lang="en-GB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Back End DELIVERABLE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The back office functionality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7169730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r>
                        <a:rPr lang="en-GB" sz="1000" dirty="0"/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581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4030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D509D-54A8-23B1-1943-E985A97D3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Gantt Chart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CD553B-8043-D7D1-79DE-862BDC5A6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2D523F-6B86-D96D-51FC-1CB3AC7E5724}"/>
              </a:ext>
            </a:extLst>
          </p:cNvPr>
          <p:cNvSpPr txBox="1"/>
          <p:nvPr/>
        </p:nvSpPr>
        <p:spPr>
          <a:xfrm>
            <a:off x="700635" y="2395722"/>
            <a:ext cx="197921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The WBS identifies all deliverables and tasks in the project.</a:t>
            </a:r>
          </a:p>
          <a:p>
            <a:endParaRPr lang="en-GB" sz="1400" dirty="0"/>
          </a:p>
          <a:p>
            <a:r>
              <a:rPr lang="en-GB" sz="1400" dirty="0"/>
              <a:t>The Gantt chart refactors this into a time-based plan.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C00103-EBD8-7838-F2DD-CD2DA2DBA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692" y="1704039"/>
            <a:ext cx="8355291" cy="465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35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535D7-15F2-3229-9960-3BF76DF41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683D5-D9C2-F5BD-75B6-2885C7BB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Gantt Chart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D63FB0-AE9B-5556-B8C4-8FEDD7D34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FCDF4C-81E6-C9BC-EB1C-3F11069EF890}"/>
              </a:ext>
            </a:extLst>
          </p:cNvPr>
          <p:cNvSpPr txBox="1"/>
          <p:nvPr/>
        </p:nvSpPr>
        <p:spPr>
          <a:xfrm>
            <a:off x="835378" y="2156178"/>
            <a:ext cx="8016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Typically include: tasks, task start date, task end date, task owner, milestones, etc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3A1317-B82E-6F56-7BD1-524ADBA32EE4}"/>
              </a:ext>
            </a:extLst>
          </p:cNvPr>
          <p:cNvSpPr txBox="1"/>
          <p:nvPr/>
        </p:nvSpPr>
        <p:spPr>
          <a:xfrm>
            <a:off x="923126" y="2779058"/>
            <a:ext cx="784124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Positives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Provides a quick snapshot visualisation of the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Enables task dependencies to be monitored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Makes keeping track of the resource management and task allocation easier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Negatives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Hard to estimate task durations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Hard to manage changing tasks/staff/etc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Gets messy/chaotic quickly as more tasks/milestones /etc are added</a:t>
            </a:r>
          </a:p>
        </p:txBody>
      </p:sp>
    </p:spTree>
    <p:extLst>
      <p:ext uri="{BB962C8B-B14F-4D97-AF65-F5344CB8AC3E}">
        <p14:creationId xmlns:p14="http://schemas.microsoft.com/office/powerpoint/2010/main" val="927005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BDEE6-611C-A5C3-BA2B-93D8ED74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924633"/>
          </a:xfrm>
        </p:spPr>
        <p:txBody>
          <a:bodyPr/>
          <a:lstStyle/>
          <a:p>
            <a:r>
              <a:rPr lang="en-GB" dirty="0"/>
              <a:t>PERT CHART </a:t>
            </a:r>
            <a:r>
              <a:rPr lang="en-GB" sz="1100" dirty="0"/>
              <a:t>(</a:t>
            </a:r>
            <a:r>
              <a:rPr lang="en-GB" sz="1100" b="1" dirty="0"/>
              <a:t>P</a:t>
            </a:r>
            <a:r>
              <a:rPr lang="en-GB" sz="1100" dirty="0"/>
              <a:t>rogram </a:t>
            </a:r>
            <a:r>
              <a:rPr lang="en-GB" sz="1100" b="1" dirty="0"/>
              <a:t>e</a:t>
            </a:r>
            <a:r>
              <a:rPr lang="en-GB" sz="1100" dirty="0"/>
              <a:t>valuation and </a:t>
            </a:r>
            <a:r>
              <a:rPr lang="en-GB" sz="1100" b="1" dirty="0"/>
              <a:t>r</a:t>
            </a:r>
            <a:r>
              <a:rPr lang="en-GB" sz="1100" dirty="0"/>
              <a:t>eview </a:t>
            </a:r>
            <a:r>
              <a:rPr lang="en-GB" sz="1100" b="1" dirty="0"/>
              <a:t>t</a:t>
            </a:r>
            <a:r>
              <a:rPr lang="en-GB" sz="1100" dirty="0"/>
              <a:t>echnique)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A37672-68AE-331E-9C7D-48E80C9DA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92E74F-C569-5F7F-4108-3336142D88DB}"/>
              </a:ext>
            </a:extLst>
          </p:cNvPr>
          <p:cNvSpPr txBox="1"/>
          <p:nvPr/>
        </p:nvSpPr>
        <p:spPr>
          <a:xfrm>
            <a:off x="806824" y="2339788"/>
            <a:ext cx="9500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 network diagram of the project. Helps to visualise task dependencies and the Critical Path.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FB2077D-579C-D4AE-091D-B5C3C2F34369}"/>
              </a:ext>
            </a:extLst>
          </p:cNvPr>
          <p:cNvGrpSpPr/>
          <p:nvPr/>
        </p:nvGrpSpPr>
        <p:grpSpPr>
          <a:xfrm>
            <a:off x="959023" y="3255372"/>
            <a:ext cx="7725198" cy="2409568"/>
            <a:chOff x="700635" y="3392013"/>
            <a:chExt cx="7725198" cy="2409568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D3FB3614-AA5B-F2F8-73EC-68C957BA4E0D}"/>
                </a:ext>
              </a:extLst>
            </p:cNvPr>
            <p:cNvSpPr txBox="1"/>
            <p:nvPr/>
          </p:nvSpPr>
          <p:spPr>
            <a:xfrm>
              <a:off x="700635" y="3855214"/>
              <a:ext cx="1122423" cy="24622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1000" dirty="0"/>
                <a:t>Web App Project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B91535D-A060-F4A4-31F3-55AA040032A2}"/>
                </a:ext>
              </a:extLst>
            </p:cNvPr>
            <p:cNvSpPr txBox="1"/>
            <p:nvPr/>
          </p:nvSpPr>
          <p:spPr>
            <a:xfrm>
              <a:off x="2151529" y="3392013"/>
              <a:ext cx="1184940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1000" dirty="0"/>
                <a:t>Project Scope Doc</a:t>
              </a:r>
            </a:p>
            <a:p>
              <a:r>
                <a:rPr lang="en-GB" sz="1000" dirty="0"/>
                <a:t>13/11 – 16/11 (4)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D839CDC-2686-680E-3485-D9DAD54F2E71}"/>
                </a:ext>
              </a:extLst>
            </p:cNvPr>
            <p:cNvSpPr txBox="1"/>
            <p:nvPr/>
          </p:nvSpPr>
          <p:spPr>
            <a:xfrm>
              <a:off x="2393810" y="3954587"/>
              <a:ext cx="1154483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1000" dirty="0"/>
                <a:t>WBS</a:t>
              </a:r>
            </a:p>
            <a:p>
              <a:r>
                <a:rPr lang="en-GB" sz="1000" dirty="0"/>
                <a:t>16/11 – 18/11 (3)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C9C2D93-742D-250E-EEF0-E57FBA595435}"/>
                </a:ext>
              </a:extLst>
            </p:cNvPr>
            <p:cNvSpPr txBox="1"/>
            <p:nvPr/>
          </p:nvSpPr>
          <p:spPr>
            <a:xfrm>
              <a:off x="2743999" y="4592894"/>
              <a:ext cx="1154483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1000" dirty="0" err="1"/>
                <a:t>Proj</a:t>
              </a:r>
              <a:r>
                <a:rPr lang="en-GB" sz="1000" dirty="0"/>
                <a:t>. Man. Docs</a:t>
              </a:r>
            </a:p>
            <a:p>
              <a:r>
                <a:rPr lang="en-GB" sz="1000" dirty="0"/>
                <a:t>18/11 – 22/11 (5)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E256F27-0E7A-3B9E-28EE-B0DD8C7852CA}"/>
                </a:ext>
              </a:extLst>
            </p:cNvPr>
            <p:cNvSpPr txBox="1"/>
            <p:nvPr/>
          </p:nvSpPr>
          <p:spPr>
            <a:xfrm>
              <a:off x="4879477" y="3392013"/>
              <a:ext cx="1354858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1000" dirty="0"/>
                <a:t>Visual Design Theme</a:t>
              </a:r>
            </a:p>
            <a:p>
              <a:r>
                <a:rPr lang="en-GB" sz="1000" dirty="0"/>
                <a:t>22/11 – 26/11 (5)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F14D8B3D-E3F6-8739-C15D-737365EEDEC1}"/>
                </a:ext>
              </a:extLst>
            </p:cNvPr>
            <p:cNvSpPr txBox="1"/>
            <p:nvPr/>
          </p:nvSpPr>
          <p:spPr>
            <a:xfrm>
              <a:off x="4879477" y="4101539"/>
              <a:ext cx="1354858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1000" dirty="0"/>
                <a:t>User Stories</a:t>
              </a:r>
            </a:p>
            <a:p>
              <a:r>
                <a:rPr lang="en-GB" sz="1000" dirty="0"/>
                <a:t>22/11 – 27/11 (6)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DAD8BDF-4C77-4ADA-7427-B4A93D525FDA}"/>
                </a:ext>
              </a:extLst>
            </p:cNvPr>
            <p:cNvSpPr txBox="1"/>
            <p:nvPr/>
          </p:nvSpPr>
          <p:spPr>
            <a:xfrm>
              <a:off x="7205627" y="4101539"/>
              <a:ext cx="1154483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1000" dirty="0"/>
                <a:t>Database Dev</a:t>
              </a:r>
            </a:p>
            <a:p>
              <a:r>
                <a:rPr lang="en-GB" sz="1000" dirty="0"/>
                <a:t>28/11 – 03/12 (7)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B02E050-2C06-4566-2B32-337A6AF78D1E}"/>
                </a:ext>
              </a:extLst>
            </p:cNvPr>
            <p:cNvSpPr txBox="1"/>
            <p:nvPr/>
          </p:nvSpPr>
          <p:spPr>
            <a:xfrm>
              <a:off x="7205627" y="4751505"/>
              <a:ext cx="1220206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1000" dirty="0"/>
                <a:t>Landing Page</a:t>
              </a:r>
            </a:p>
            <a:p>
              <a:r>
                <a:rPr lang="en-GB" sz="1000" dirty="0"/>
                <a:t>28/11 – 12/12 (16)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280945B-FA64-480A-4835-29C21106C699}"/>
                </a:ext>
              </a:extLst>
            </p:cNvPr>
            <p:cNvSpPr txBox="1"/>
            <p:nvPr/>
          </p:nvSpPr>
          <p:spPr>
            <a:xfrm>
              <a:off x="7205627" y="5401471"/>
              <a:ext cx="1220206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1000" dirty="0"/>
                <a:t>Admin Interface</a:t>
              </a:r>
            </a:p>
            <a:p>
              <a:r>
                <a:rPr lang="en-GB" sz="1000" dirty="0"/>
                <a:t>28/11 – 19/12 (23)</a:t>
              </a:r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27273606-F79D-FFA8-5D14-E30CDB3048BD}"/>
                </a:ext>
              </a:extLst>
            </p:cNvPr>
            <p:cNvCxnSpPr>
              <a:stCxn id="65" idx="3"/>
              <a:endCxn id="66" idx="1"/>
            </p:cNvCxnSpPr>
            <p:nvPr/>
          </p:nvCxnSpPr>
          <p:spPr>
            <a:xfrm flipV="1">
              <a:off x="1823058" y="3592068"/>
              <a:ext cx="328471" cy="38625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47FD3834-7D2F-A52C-F61D-DB81AED7F3F1}"/>
                </a:ext>
              </a:extLst>
            </p:cNvPr>
            <p:cNvCxnSpPr>
              <a:stCxn id="68" idx="3"/>
              <a:endCxn id="69" idx="1"/>
            </p:cNvCxnSpPr>
            <p:nvPr/>
          </p:nvCxnSpPr>
          <p:spPr>
            <a:xfrm flipV="1">
              <a:off x="3898482" y="3592068"/>
              <a:ext cx="980995" cy="12008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3E5C91E7-65A7-CE22-B4FA-2C798304EA3A}"/>
                </a:ext>
              </a:extLst>
            </p:cNvPr>
            <p:cNvCxnSpPr>
              <a:stCxn id="68" idx="3"/>
              <a:endCxn id="70" idx="1"/>
            </p:cNvCxnSpPr>
            <p:nvPr/>
          </p:nvCxnSpPr>
          <p:spPr>
            <a:xfrm flipV="1">
              <a:off x="3898482" y="4301594"/>
              <a:ext cx="980995" cy="491355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or: Elbow 76">
              <a:extLst>
                <a:ext uri="{FF2B5EF4-FFF2-40B4-BE49-F238E27FC236}">
                  <a16:creationId xmlns:a16="http://schemas.microsoft.com/office/drawing/2014/main" id="{1F1E54F6-36A6-A11C-1830-286793D333BA}"/>
                </a:ext>
              </a:extLst>
            </p:cNvPr>
            <p:cNvCxnSpPr>
              <a:endCxn id="67" idx="1"/>
            </p:cNvCxnSpPr>
            <p:nvPr/>
          </p:nvCxnSpPr>
          <p:spPr>
            <a:xfrm rot="16200000" flipH="1">
              <a:off x="2140716" y="3901547"/>
              <a:ext cx="362519" cy="143669"/>
            </a:xfrm>
            <a:prstGeom prst="bentConnector2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: Elbow 77">
              <a:extLst>
                <a:ext uri="{FF2B5EF4-FFF2-40B4-BE49-F238E27FC236}">
                  <a16:creationId xmlns:a16="http://schemas.microsoft.com/office/drawing/2014/main" id="{9D4256ED-0C03-7FE5-D6CA-56D948EB27A4}"/>
                </a:ext>
              </a:extLst>
            </p:cNvPr>
            <p:cNvCxnSpPr>
              <a:endCxn id="68" idx="1"/>
            </p:cNvCxnSpPr>
            <p:nvPr/>
          </p:nvCxnSpPr>
          <p:spPr>
            <a:xfrm rot="16200000" flipH="1">
              <a:off x="2421379" y="4470329"/>
              <a:ext cx="438252" cy="206987"/>
            </a:xfrm>
            <a:prstGeom prst="bentConnector2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31DA1B7F-67E2-2BCD-2149-5B77A12BB0A1}"/>
                </a:ext>
              </a:extLst>
            </p:cNvPr>
            <p:cNvCxnSpPr>
              <a:stCxn id="69" idx="3"/>
              <a:endCxn id="71" idx="1"/>
            </p:cNvCxnSpPr>
            <p:nvPr/>
          </p:nvCxnSpPr>
          <p:spPr>
            <a:xfrm>
              <a:off x="6234335" y="3592068"/>
              <a:ext cx="971292" cy="7095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8032D0A7-5062-CC1F-EC10-E457C3B108C8}"/>
                </a:ext>
              </a:extLst>
            </p:cNvPr>
            <p:cNvCxnSpPr>
              <a:stCxn id="69" idx="3"/>
              <a:endCxn id="72" idx="1"/>
            </p:cNvCxnSpPr>
            <p:nvPr/>
          </p:nvCxnSpPr>
          <p:spPr>
            <a:xfrm>
              <a:off x="6234335" y="3592068"/>
              <a:ext cx="971292" cy="13594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0968003C-700A-422F-2A6C-0919F9702657}"/>
                </a:ext>
              </a:extLst>
            </p:cNvPr>
            <p:cNvCxnSpPr>
              <a:stCxn id="69" idx="3"/>
              <a:endCxn id="73" idx="1"/>
            </p:cNvCxnSpPr>
            <p:nvPr/>
          </p:nvCxnSpPr>
          <p:spPr>
            <a:xfrm>
              <a:off x="6234335" y="3592068"/>
              <a:ext cx="971292" cy="20094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0F42B198-AC19-C4C9-10D0-9573F21EDC63}"/>
                </a:ext>
              </a:extLst>
            </p:cNvPr>
            <p:cNvCxnSpPr>
              <a:stCxn id="70" idx="3"/>
              <a:endCxn id="71" idx="1"/>
            </p:cNvCxnSpPr>
            <p:nvPr/>
          </p:nvCxnSpPr>
          <p:spPr>
            <a:xfrm>
              <a:off x="6234335" y="4301594"/>
              <a:ext cx="97129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F2A8A59C-89FB-BDDF-F5BC-3FB947F4DC22}"/>
                </a:ext>
              </a:extLst>
            </p:cNvPr>
            <p:cNvCxnSpPr>
              <a:stCxn id="70" idx="3"/>
              <a:endCxn id="72" idx="1"/>
            </p:cNvCxnSpPr>
            <p:nvPr/>
          </p:nvCxnSpPr>
          <p:spPr>
            <a:xfrm>
              <a:off x="6234335" y="4301594"/>
              <a:ext cx="971292" cy="6499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71E451CC-D3D0-334E-4069-F3B39FE828DE}"/>
                </a:ext>
              </a:extLst>
            </p:cNvPr>
            <p:cNvCxnSpPr>
              <a:stCxn id="70" idx="3"/>
              <a:endCxn id="73" idx="1"/>
            </p:cNvCxnSpPr>
            <p:nvPr/>
          </p:nvCxnSpPr>
          <p:spPr>
            <a:xfrm>
              <a:off x="6234335" y="4301594"/>
              <a:ext cx="971292" cy="1299932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4A824B8B-9323-1F42-6FE4-F0015E96CD1B}"/>
              </a:ext>
            </a:extLst>
          </p:cNvPr>
          <p:cNvSpPr txBox="1"/>
          <p:nvPr/>
        </p:nvSpPr>
        <p:spPr>
          <a:xfrm>
            <a:off x="9237123" y="3202179"/>
            <a:ext cx="250115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Exercise:</a:t>
            </a:r>
          </a:p>
          <a:p>
            <a:endParaRPr lang="en-GB" sz="1200" dirty="0"/>
          </a:p>
          <a:p>
            <a:r>
              <a:rPr lang="en-GB" sz="1200" dirty="0"/>
              <a:t>What is the sequence of tasks which result in the longest path through the project?</a:t>
            </a:r>
          </a:p>
          <a:p>
            <a:endParaRPr lang="en-GB" sz="1200" dirty="0"/>
          </a:p>
          <a:p>
            <a:r>
              <a:rPr lang="en-GB" sz="1200" dirty="0"/>
              <a:t>This is the shortest time the project can complete…</a:t>
            </a:r>
          </a:p>
          <a:p>
            <a:endParaRPr lang="en-GB" sz="1200" dirty="0"/>
          </a:p>
          <a:p>
            <a:r>
              <a:rPr lang="en-GB" sz="1200" dirty="0"/>
              <a:t>5 mins…</a:t>
            </a:r>
          </a:p>
        </p:txBody>
      </p:sp>
    </p:spTree>
    <p:extLst>
      <p:ext uri="{BB962C8B-B14F-4D97-AF65-F5344CB8AC3E}">
        <p14:creationId xmlns:p14="http://schemas.microsoft.com/office/powerpoint/2010/main" val="3376024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7B390-A7DF-DC52-D80D-15FEF3222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Time estimation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63E3EA-D16E-8FDF-30F9-B72DF3996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2EBE79-2727-A107-A9E9-2D219BDE37D4}"/>
              </a:ext>
            </a:extLst>
          </p:cNvPr>
          <p:cNvSpPr txBox="1"/>
          <p:nvPr/>
        </p:nvSpPr>
        <p:spPr>
          <a:xfrm>
            <a:off x="700635" y="2088776"/>
            <a:ext cx="883408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Optimistic Time</a:t>
            </a:r>
            <a:r>
              <a:rPr lang="en-GB" dirty="0"/>
              <a:t>: Shortest time a task can be completed.</a:t>
            </a:r>
          </a:p>
          <a:p>
            <a:r>
              <a:rPr lang="en-GB" b="1" dirty="0"/>
              <a:t>Most Likely Time</a:t>
            </a:r>
            <a:r>
              <a:rPr lang="en-GB" dirty="0"/>
              <a:t>: Task completion time having the highest probability.</a:t>
            </a:r>
          </a:p>
          <a:p>
            <a:r>
              <a:rPr lang="en-GB" b="1" dirty="0"/>
              <a:t>Pessimistic Time</a:t>
            </a:r>
            <a:r>
              <a:rPr lang="en-GB" dirty="0"/>
              <a:t>: The longest time a task might require.</a:t>
            </a:r>
          </a:p>
          <a:p>
            <a:endParaRPr lang="en-GB" dirty="0"/>
          </a:p>
          <a:p>
            <a:r>
              <a:rPr lang="en-GB" dirty="0"/>
              <a:t>The </a:t>
            </a:r>
            <a:r>
              <a:rPr lang="en-GB" b="1" dirty="0"/>
              <a:t>Estimated Time </a:t>
            </a:r>
            <a:r>
              <a:rPr lang="en-GB" dirty="0"/>
              <a:t>= (Optimistic Time +(4 x Most Likely Time) + Pessimistic Time)/6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F7BBFA-EB63-6177-733F-2E5D4CEC3A9D}"/>
              </a:ext>
            </a:extLst>
          </p:cNvPr>
          <p:cNvSpPr txBox="1"/>
          <p:nvPr/>
        </p:nvSpPr>
        <p:spPr>
          <a:xfrm>
            <a:off x="887506" y="4052047"/>
            <a:ext cx="210448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So, for a task with:</a:t>
            </a:r>
          </a:p>
          <a:p>
            <a:endParaRPr lang="en-GB" dirty="0"/>
          </a:p>
          <a:p>
            <a:r>
              <a:rPr lang="en-GB" dirty="0"/>
              <a:t>Optimistic: 3 days</a:t>
            </a:r>
          </a:p>
          <a:p>
            <a:r>
              <a:rPr lang="en-GB" dirty="0"/>
              <a:t>Most likely: 6 days</a:t>
            </a:r>
          </a:p>
          <a:p>
            <a:r>
              <a:rPr lang="en-GB" dirty="0"/>
              <a:t>Pessimistic: 10 days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63F2CA-250D-7B97-8E18-51B656150E9B}"/>
              </a:ext>
            </a:extLst>
          </p:cNvPr>
          <p:cNvSpPr txBox="1"/>
          <p:nvPr/>
        </p:nvSpPr>
        <p:spPr>
          <a:xfrm>
            <a:off x="4096871" y="4383741"/>
            <a:ext cx="5621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Estimated = (3 + (4 x 6) + 10)/6 = 6.2 days (7 full days)</a:t>
            </a:r>
          </a:p>
        </p:txBody>
      </p:sp>
    </p:spTree>
    <p:extLst>
      <p:ext uri="{BB962C8B-B14F-4D97-AF65-F5344CB8AC3E}">
        <p14:creationId xmlns:p14="http://schemas.microsoft.com/office/powerpoint/2010/main" val="462887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C243E-8647-1B5A-8541-FFCF3D407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80DF7-9F4A-D706-C4A2-1F0054730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924633"/>
          </a:xfrm>
        </p:spPr>
        <p:txBody>
          <a:bodyPr/>
          <a:lstStyle/>
          <a:p>
            <a:r>
              <a:rPr lang="en-GB" dirty="0"/>
              <a:t>PERT CHART </a:t>
            </a:r>
            <a:r>
              <a:rPr lang="en-GB" sz="1100" dirty="0"/>
              <a:t>(</a:t>
            </a:r>
            <a:r>
              <a:rPr lang="en-GB" sz="1100" b="1" dirty="0"/>
              <a:t>P</a:t>
            </a:r>
            <a:r>
              <a:rPr lang="en-GB" sz="1100" dirty="0"/>
              <a:t>rogram </a:t>
            </a:r>
            <a:r>
              <a:rPr lang="en-GB" sz="1100" b="1" dirty="0"/>
              <a:t>e</a:t>
            </a:r>
            <a:r>
              <a:rPr lang="en-GB" sz="1100" dirty="0"/>
              <a:t>valuation and </a:t>
            </a:r>
            <a:r>
              <a:rPr lang="en-GB" sz="1100" b="1" dirty="0"/>
              <a:t>r</a:t>
            </a:r>
            <a:r>
              <a:rPr lang="en-GB" sz="1100" dirty="0"/>
              <a:t>eview </a:t>
            </a:r>
            <a:r>
              <a:rPr lang="en-GB" sz="1100" b="1" dirty="0"/>
              <a:t>t</a:t>
            </a:r>
            <a:r>
              <a:rPr lang="en-GB" sz="1100" dirty="0"/>
              <a:t>echnique)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39BC63-4ED6-86CB-66C8-C9032F4D3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747AC3-C0D6-7A02-D3F2-E513FE283B34}"/>
              </a:ext>
            </a:extLst>
          </p:cNvPr>
          <p:cNvSpPr txBox="1"/>
          <p:nvPr/>
        </p:nvSpPr>
        <p:spPr>
          <a:xfrm>
            <a:off x="876748" y="2166644"/>
            <a:ext cx="729436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Positives: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Great for identifying critical path through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Can visualise dependencies and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Easy to perform ‘what-if’ type scenarios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Negatives: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Takes a lot of time to set 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Not ideal if multiple projects are in action and need to share resources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Places a lot of emphasis on time – doesn’t focus on costs for example.</a:t>
            </a:r>
          </a:p>
        </p:txBody>
      </p:sp>
    </p:spTree>
    <p:extLst>
      <p:ext uri="{BB962C8B-B14F-4D97-AF65-F5344CB8AC3E}">
        <p14:creationId xmlns:p14="http://schemas.microsoft.com/office/powerpoint/2010/main" val="1700519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F71ED99-4369-C734-C435-B3EB40E07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60B84A-8751-9843-7565-ED09DF6E6CFA}"/>
              </a:ext>
            </a:extLst>
          </p:cNvPr>
          <p:cNvSpPr txBox="1"/>
          <p:nvPr/>
        </p:nvSpPr>
        <p:spPr>
          <a:xfrm>
            <a:off x="715383" y="858352"/>
            <a:ext cx="491782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Exercise:</a:t>
            </a:r>
          </a:p>
          <a:p>
            <a:endParaRPr lang="en-GB" dirty="0"/>
          </a:p>
          <a:p>
            <a:r>
              <a:rPr lang="en-GB" dirty="0"/>
              <a:t>Amy is responsible for tasks G and H. </a:t>
            </a:r>
          </a:p>
          <a:p>
            <a:r>
              <a:rPr lang="en-GB" dirty="0"/>
              <a:t>Once she finishes G, she needs to take 1 day off. </a:t>
            </a:r>
          </a:p>
          <a:p>
            <a:endParaRPr lang="en-GB" dirty="0"/>
          </a:p>
          <a:p>
            <a:r>
              <a:rPr lang="en-GB" dirty="0"/>
              <a:t>Will this cause any delay to the project?</a:t>
            </a:r>
          </a:p>
          <a:p>
            <a:endParaRPr lang="en-GB" dirty="0"/>
          </a:p>
          <a:p>
            <a:r>
              <a:rPr lang="en-GB"/>
              <a:t>5 mins …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441A0C-4145-50DC-3E30-87E3DCE63AB7}"/>
              </a:ext>
            </a:extLst>
          </p:cNvPr>
          <p:cNvSpPr/>
          <p:nvPr/>
        </p:nvSpPr>
        <p:spPr>
          <a:xfrm>
            <a:off x="1013012" y="3687251"/>
            <a:ext cx="582706" cy="5199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FF0000"/>
                </a:solidFill>
              </a:rPr>
              <a:t>A,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D31632-6CEE-9E2D-EED6-CC52C10C7066}"/>
              </a:ext>
            </a:extLst>
          </p:cNvPr>
          <p:cNvSpPr/>
          <p:nvPr/>
        </p:nvSpPr>
        <p:spPr>
          <a:xfrm>
            <a:off x="2429434" y="3169023"/>
            <a:ext cx="582706" cy="5199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FF0000"/>
                </a:solidFill>
              </a:rPr>
              <a:t>G,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208FC0-EAA9-AD3A-B1D6-6211954A590E}"/>
              </a:ext>
            </a:extLst>
          </p:cNvPr>
          <p:cNvSpPr/>
          <p:nvPr/>
        </p:nvSpPr>
        <p:spPr>
          <a:xfrm>
            <a:off x="2429434" y="4242733"/>
            <a:ext cx="582706" cy="5199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FF0000"/>
                </a:solidFill>
              </a:rPr>
              <a:t>B,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D6E79A-71CC-1F8C-A665-0E98E94025F1}"/>
              </a:ext>
            </a:extLst>
          </p:cNvPr>
          <p:cNvSpPr/>
          <p:nvPr/>
        </p:nvSpPr>
        <p:spPr>
          <a:xfrm>
            <a:off x="4061012" y="3167298"/>
            <a:ext cx="582706" cy="5199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FF0000"/>
                </a:solidFill>
              </a:rPr>
              <a:t>H, 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07CF66-5153-49D3-FDD1-3847287F97A9}"/>
              </a:ext>
            </a:extLst>
          </p:cNvPr>
          <p:cNvSpPr/>
          <p:nvPr/>
        </p:nvSpPr>
        <p:spPr>
          <a:xfrm>
            <a:off x="4061012" y="4968011"/>
            <a:ext cx="582706" cy="5199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FF0000"/>
                </a:solidFill>
              </a:rPr>
              <a:t>D,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1B10AF-BDEF-5C14-4C14-564A8D51BA31}"/>
              </a:ext>
            </a:extLst>
          </p:cNvPr>
          <p:cNvSpPr/>
          <p:nvPr/>
        </p:nvSpPr>
        <p:spPr>
          <a:xfrm>
            <a:off x="4061012" y="4099627"/>
            <a:ext cx="582706" cy="5199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FF0000"/>
                </a:solidFill>
              </a:rPr>
              <a:t>C, 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081A5C-5AEC-456C-27F4-9A61396BBD8E}"/>
              </a:ext>
            </a:extLst>
          </p:cNvPr>
          <p:cNvSpPr/>
          <p:nvPr/>
        </p:nvSpPr>
        <p:spPr>
          <a:xfrm>
            <a:off x="5334000" y="4113608"/>
            <a:ext cx="582706" cy="5199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FF0000"/>
                </a:solidFill>
              </a:rPr>
              <a:t>E, 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234D56-B097-1B19-FD20-77323183D765}"/>
              </a:ext>
            </a:extLst>
          </p:cNvPr>
          <p:cNvSpPr/>
          <p:nvPr/>
        </p:nvSpPr>
        <p:spPr>
          <a:xfrm>
            <a:off x="5334000" y="4968010"/>
            <a:ext cx="582706" cy="5199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FF0000"/>
                </a:solidFill>
              </a:rPr>
              <a:t>F,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63A93A-4F6E-ED21-C6FD-7B06A0737C62}"/>
              </a:ext>
            </a:extLst>
          </p:cNvPr>
          <p:cNvSpPr/>
          <p:nvPr/>
        </p:nvSpPr>
        <p:spPr>
          <a:xfrm>
            <a:off x="6526306" y="3722780"/>
            <a:ext cx="582706" cy="5199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rgbClr val="FF0000"/>
                </a:solidFill>
              </a:rPr>
              <a:t>I, 2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5743684-D049-BE74-DAC6-6F8839E7A951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1595718" y="3429000"/>
            <a:ext cx="833716" cy="518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77E4208-6290-0F4D-3A95-BE962F201E23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1595718" y="3947228"/>
            <a:ext cx="833716" cy="555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BBB3B9E-7C84-EC15-55F3-445A57D26C4E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3012140" y="3427275"/>
            <a:ext cx="1048872" cy="1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4A5F9C4-0F9F-AEE4-C436-61789458E8C2}"/>
              </a:ext>
            </a:extLst>
          </p:cNvPr>
          <p:cNvCxnSpPr>
            <a:stCxn id="6" idx="3"/>
            <a:endCxn id="9" idx="1"/>
          </p:cNvCxnSpPr>
          <p:nvPr/>
        </p:nvCxnSpPr>
        <p:spPr>
          <a:xfrm flipV="1">
            <a:off x="3012140" y="4359604"/>
            <a:ext cx="1048872" cy="143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2D8B13C-33A8-086B-1B27-20F3527F30B4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3012140" y="4502710"/>
            <a:ext cx="1048872" cy="725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AFCF96B-5C23-CDB2-7CFE-F6603D05EFAE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4643718" y="4359604"/>
            <a:ext cx="690282" cy="13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18D4A09-646D-D6A2-88BD-425C7B992815}"/>
              </a:ext>
            </a:extLst>
          </p:cNvPr>
          <p:cNvCxnSpPr>
            <a:stCxn id="8" idx="3"/>
            <a:endCxn id="11" idx="1"/>
          </p:cNvCxnSpPr>
          <p:nvPr/>
        </p:nvCxnSpPr>
        <p:spPr>
          <a:xfrm flipV="1">
            <a:off x="4643718" y="5227987"/>
            <a:ext cx="6902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6C2951F-E65E-FEAD-2021-833DAFD09587}"/>
              </a:ext>
            </a:extLst>
          </p:cNvPr>
          <p:cNvCxnSpPr>
            <a:stCxn id="7" idx="3"/>
            <a:endCxn id="12" idx="1"/>
          </p:cNvCxnSpPr>
          <p:nvPr/>
        </p:nvCxnSpPr>
        <p:spPr>
          <a:xfrm>
            <a:off x="4643718" y="3427275"/>
            <a:ext cx="1882588" cy="555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12B8C16-B57E-6159-5261-E8BE04FACE83}"/>
              </a:ext>
            </a:extLst>
          </p:cNvPr>
          <p:cNvCxnSpPr>
            <a:cxnSpLocks/>
          </p:cNvCxnSpPr>
          <p:nvPr/>
        </p:nvCxnSpPr>
        <p:spPr>
          <a:xfrm flipV="1">
            <a:off x="5916706" y="3993182"/>
            <a:ext cx="609600" cy="390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DDAB0ED-689A-540F-4C1E-58785184C703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5916706" y="3982757"/>
            <a:ext cx="609600" cy="12452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8308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4DE02-CB62-ADBD-5BA1-3620F0BA6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does this mean for Your team?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227B49-7ECE-A63C-26D2-3E6DC7538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F82664B-6F2D-3FFE-3A44-1A3AF5E61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Gantt and PERT are complimentary – they are both useful!</a:t>
            </a:r>
          </a:p>
          <a:p>
            <a:pPr lvl="1"/>
            <a:r>
              <a:rPr lang="en-GB" dirty="0"/>
              <a:t>Gantt is good for scheduling</a:t>
            </a:r>
          </a:p>
          <a:p>
            <a:pPr lvl="1"/>
            <a:r>
              <a:rPr lang="en-GB" dirty="0"/>
              <a:t>PERT is good for dependencies and identifying possible delays</a:t>
            </a:r>
          </a:p>
          <a:p>
            <a:pPr lvl="1"/>
            <a:r>
              <a:rPr lang="en-GB" dirty="0"/>
              <a:t>A Work Breakdown Structure</a:t>
            </a:r>
          </a:p>
          <a:p>
            <a:pPr lvl="1"/>
            <a:endParaRPr lang="en-GB" dirty="0"/>
          </a:p>
          <a:p>
            <a:r>
              <a:rPr lang="en-GB" dirty="0"/>
              <a:t>When planning your project, these tools will help to visualise the project.</a:t>
            </a:r>
          </a:p>
        </p:txBody>
      </p:sp>
    </p:spTree>
    <p:extLst>
      <p:ext uri="{BB962C8B-B14F-4D97-AF65-F5344CB8AC3E}">
        <p14:creationId xmlns:p14="http://schemas.microsoft.com/office/powerpoint/2010/main" val="24698357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7AE181C-3500-CA1E-B335-7EE65ACED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A9BBC1-21D1-94B0-8839-AFD9AE949340}"/>
              </a:ext>
            </a:extLst>
          </p:cNvPr>
          <p:cNvSpPr txBox="1"/>
          <p:nvPr/>
        </p:nvSpPr>
        <p:spPr>
          <a:xfrm>
            <a:off x="715383" y="1072444"/>
            <a:ext cx="5979266" cy="21852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Are Kanban boards and Gantt/PERT charts compatible…?</a:t>
            </a:r>
          </a:p>
          <a:p>
            <a:endParaRPr lang="en-GB" dirty="0"/>
          </a:p>
          <a:p>
            <a:r>
              <a:rPr lang="en-GB" sz="2800" b="1" dirty="0"/>
              <a:t>YES!</a:t>
            </a:r>
          </a:p>
          <a:p>
            <a:endParaRPr lang="en-GB" dirty="0"/>
          </a:p>
          <a:p>
            <a:r>
              <a:rPr lang="en-GB" dirty="0"/>
              <a:t>Gantt/PERT are good for planning, scheduling etc</a:t>
            </a:r>
          </a:p>
          <a:p>
            <a:r>
              <a:rPr lang="en-GB" dirty="0"/>
              <a:t>Kanban is good for process/task management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857ABF-5569-9723-1B31-6A6E45939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08" y="2314937"/>
            <a:ext cx="5094909" cy="3600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928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E7DA0AF-72A8-5E55-C02D-AFB08CEC0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Attendance Code: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34C7A9-1243-8A51-52FD-19343A56FC3D}"/>
              </a:ext>
            </a:extLst>
          </p:cNvPr>
          <p:cNvSpPr txBox="1"/>
          <p:nvPr/>
        </p:nvSpPr>
        <p:spPr>
          <a:xfrm>
            <a:off x="715383" y="782121"/>
            <a:ext cx="7602722" cy="5170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u="sng" dirty="0"/>
              <a:t>Resources</a:t>
            </a:r>
          </a:p>
          <a:p>
            <a:endParaRPr lang="en-GB" dirty="0"/>
          </a:p>
          <a:p>
            <a:r>
              <a:rPr lang="en-GB" b="1" i="1" dirty="0"/>
              <a:t>Gantt Charts</a:t>
            </a:r>
            <a:endParaRPr lang="en-GB" dirty="0"/>
          </a:p>
          <a:p>
            <a:r>
              <a:rPr lang="en-GB" sz="1400" dirty="0"/>
              <a:t>Association for Project Management</a:t>
            </a:r>
          </a:p>
          <a:p>
            <a:r>
              <a:rPr lang="en-GB" sz="1400" dirty="0">
                <a:hlinkClick r:id="rId2"/>
              </a:rPr>
              <a:t>https://www.apm.org.uk/resources/find-a-resource/gantt-chart/</a:t>
            </a:r>
            <a:endParaRPr lang="en-GB" sz="1400" dirty="0"/>
          </a:p>
          <a:p>
            <a:endParaRPr lang="en-GB" sz="1400" dirty="0"/>
          </a:p>
          <a:p>
            <a:r>
              <a:rPr lang="en-GB" sz="1400" dirty="0"/>
              <a:t>Atlassian</a:t>
            </a:r>
          </a:p>
          <a:p>
            <a:r>
              <a:rPr lang="en-GB" sz="1400" dirty="0">
                <a:hlinkClick r:id="rId3"/>
              </a:rPr>
              <a:t>https://www.atlassian.com/agile/project-management/gantt-chart</a:t>
            </a:r>
            <a:endParaRPr lang="en-GB" sz="1400" dirty="0"/>
          </a:p>
          <a:p>
            <a:endParaRPr lang="en-GB" dirty="0"/>
          </a:p>
          <a:p>
            <a:r>
              <a:rPr lang="en-GB" b="1" i="1" dirty="0"/>
              <a:t>PERT charts</a:t>
            </a:r>
            <a:endParaRPr lang="en-GB" dirty="0"/>
          </a:p>
          <a:p>
            <a:r>
              <a:rPr lang="en-GB" sz="1400" dirty="0"/>
              <a:t>Project Management Academy</a:t>
            </a:r>
          </a:p>
          <a:p>
            <a:r>
              <a:rPr lang="en-GB" sz="1400" dirty="0">
                <a:hlinkClick r:id="rId4"/>
              </a:rPr>
              <a:t>https://projectmanagementacademy.net/resources/blog/a-three-point-estimating-technique-pert/</a:t>
            </a:r>
            <a:endParaRPr lang="en-GB" sz="1400" dirty="0"/>
          </a:p>
          <a:p>
            <a:endParaRPr lang="en-GB" sz="1400" dirty="0"/>
          </a:p>
          <a:p>
            <a:r>
              <a:rPr lang="en-GB" sz="1400" dirty="0"/>
              <a:t>Atlassian</a:t>
            </a:r>
          </a:p>
          <a:p>
            <a:r>
              <a:rPr lang="en-GB" sz="1400" dirty="0">
                <a:hlinkClick r:id="rId5"/>
              </a:rPr>
              <a:t>https://www.atlassian.com/work-management/project-management/pert-chart</a:t>
            </a:r>
            <a:endParaRPr lang="en-GB" sz="1400" dirty="0"/>
          </a:p>
          <a:p>
            <a:endParaRPr lang="en-GB" dirty="0"/>
          </a:p>
          <a:p>
            <a:r>
              <a:rPr lang="en-GB" b="1" i="1" dirty="0"/>
              <a:t>Critical Path</a:t>
            </a:r>
          </a:p>
          <a:p>
            <a:r>
              <a:rPr lang="en-GB" sz="1400" dirty="0"/>
              <a:t>Atlassian</a:t>
            </a:r>
          </a:p>
          <a:p>
            <a:r>
              <a:rPr lang="en-GB" sz="1400" dirty="0">
                <a:hlinkClick r:id="rId6"/>
              </a:rPr>
              <a:t>https://www.atlassian.com/work-management/project-management/critical-path-method</a:t>
            </a:r>
            <a:endParaRPr lang="en-GB" sz="1400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48298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084730-8A42-77AE-6812-8D8E55958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897753"/>
            <a:ext cx="3635046" cy="1575391"/>
          </a:xfrm>
        </p:spPr>
        <p:txBody>
          <a:bodyPr>
            <a:normAutofit/>
          </a:bodyPr>
          <a:lstStyle/>
          <a:p>
            <a:r>
              <a:rPr lang="en-GB" dirty="0"/>
              <a:t>Thank you!</a:t>
            </a:r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35EA3-0B16-344C-6B53-9A998DEC0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565" y="2212046"/>
            <a:ext cx="3685805" cy="3500265"/>
          </a:xfrm>
        </p:spPr>
        <p:txBody>
          <a:bodyPr>
            <a:normAutofit/>
          </a:bodyPr>
          <a:lstStyle/>
          <a:p>
            <a:r>
              <a:rPr lang="en-GB" sz="1700" dirty="0"/>
              <a:t>Summary</a:t>
            </a:r>
          </a:p>
          <a:p>
            <a:pPr lvl="1"/>
            <a:r>
              <a:rPr lang="en-GB" sz="1400" dirty="0"/>
              <a:t>Work Breakdown Structure (WBS)</a:t>
            </a:r>
          </a:p>
          <a:p>
            <a:pPr lvl="1"/>
            <a:r>
              <a:rPr lang="en-GB" sz="1400" dirty="0"/>
              <a:t>Gantt Charts</a:t>
            </a:r>
          </a:p>
          <a:p>
            <a:pPr lvl="1"/>
            <a:r>
              <a:rPr lang="en-GB" sz="1400" dirty="0"/>
              <a:t>PERT Charts</a:t>
            </a:r>
          </a:p>
          <a:p>
            <a:pPr lvl="1"/>
            <a:r>
              <a:rPr lang="en-GB" sz="1400" dirty="0"/>
              <a:t>Critical Path</a:t>
            </a:r>
          </a:p>
          <a:p>
            <a:pPr lvl="1"/>
            <a:endParaRPr lang="en-GB" sz="1500" dirty="0"/>
          </a:p>
          <a:p>
            <a:pPr lvl="1"/>
            <a:endParaRPr lang="en-GB" sz="1500" dirty="0"/>
          </a:p>
        </p:txBody>
      </p:sp>
      <p:pic>
        <p:nvPicPr>
          <p:cNvPr id="1026" name="Picture 2" descr="7,000+ Best Motivational Images · 100% Free Download · Pexels Stock Photos">
            <a:extLst>
              <a:ext uri="{FF2B5EF4-FFF2-40B4-BE49-F238E27FC236}">
                <a16:creationId xmlns:a16="http://schemas.microsoft.com/office/drawing/2014/main" id="{621C5936-8E8F-85A8-2349-8D9E0CDA9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76799" y="1596628"/>
            <a:ext cx="7316771" cy="4115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9D3AB6-3E89-587E-F480-1936B8FCC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Attendance Code: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34339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AnalogousFromLightSeedLeftStep">
      <a:dk1>
        <a:srgbClr val="000000"/>
      </a:dk1>
      <a:lt1>
        <a:srgbClr val="FFFFFF"/>
      </a:lt1>
      <a:dk2>
        <a:srgbClr val="3E2441"/>
      </a:dk2>
      <a:lt2>
        <a:srgbClr val="E8E6E2"/>
      </a:lt2>
      <a:accent1>
        <a:srgbClr val="96A3C6"/>
      </a:accent1>
      <a:accent2>
        <a:srgbClr val="7FA7BA"/>
      </a:accent2>
      <a:accent3>
        <a:srgbClr val="82ACA8"/>
      </a:accent3>
      <a:accent4>
        <a:srgbClr val="77AE92"/>
      </a:accent4>
      <a:accent5>
        <a:srgbClr val="81AC84"/>
      </a:accent5>
      <a:accent6>
        <a:srgbClr val="8AAE77"/>
      </a:accent6>
      <a:hlink>
        <a:srgbClr val="908157"/>
      </a:hlink>
      <a:folHlink>
        <a:srgbClr val="7F7F7F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</TotalTime>
  <Words>1204</Words>
  <Application>Microsoft Office PowerPoint</Application>
  <PresentationFormat>Widescreen</PresentationFormat>
  <Paragraphs>272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Calibri</vt:lpstr>
      <vt:lpstr>Arial</vt:lpstr>
      <vt:lpstr>Univers Condensed</vt:lpstr>
      <vt:lpstr>Calisto MT</vt:lpstr>
      <vt:lpstr>ChronicleVTI</vt:lpstr>
      <vt:lpstr>PowerPoint Presentation</vt:lpstr>
      <vt:lpstr>CMP2804  Team Software Engineering</vt:lpstr>
      <vt:lpstr>Scheduling and organising</vt:lpstr>
      <vt:lpstr>Scheduling</vt:lpstr>
      <vt:lpstr>Scheduling – some terminology</vt:lpstr>
      <vt:lpstr>PowerPoint Presentation</vt:lpstr>
      <vt:lpstr>PowerPoint Presentation</vt:lpstr>
      <vt:lpstr>PowerPoint Presentation</vt:lpstr>
      <vt:lpstr>PowerPoint Presentation</vt:lpstr>
      <vt:lpstr>Gantt Chart</vt:lpstr>
      <vt:lpstr>Gantt Chart</vt:lpstr>
      <vt:lpstr>PERT CHART (Program evaluation and review technique)</vt:lpstr>
      <vt:lpstr>Task Time estimation</vt:lpstr>
      <vt:lpstr>PERT CHART (Program evaluation and review technique)</vt:lpstr>
      <vt:lpstr>PowerPoint Presentation</vt:lpstr>
      <vt:lpstr>What does this mean for Your team?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CMP2804  Team Software Engineering</dc:title>
  <dc:creator>Mark Doughty</dc:creator>
  <cp:lastModifiedBy>Mark Doughty</cp:lastModifiedBy>
  <cp:revision>5</cp:revision>
  <dcterms:created xsi:type="dcterms:W3CDTF">2023-09-15T14:02:37Z</dcterms:created>
  <dcterms:modified xsi:type="dcterms:W3CDTF">2025-11-19T10:56:26Z</dcterms:modified>
</cp:coreProperties>
</file>